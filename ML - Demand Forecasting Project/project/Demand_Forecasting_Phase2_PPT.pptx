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6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7772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 Forecasting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38912" y="1627632"/>
            <a:ext cx="8961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Inventory Cost Reduction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38912" y="24871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Feature Engineering, Baseline Modeling &amp; Evaluation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" y="2944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Techniques Course  |  Supervised Regression Problem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" y="3493008"/>
            <a:ext cx="1938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349300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42032" y="3493008"/>
            <a:ext cx="1938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542032" y="349300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Baseline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45152" y="3493008"/>
            <a:ext cx="1938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45152" y="349300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/ MSE / RMSE / R²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48272" y="3493008"/>
            <a:ext cx="1938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48272" y="349300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418320" y="685800"/>
            <a:ext cx="2468880" cy="5577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528048" y="896112"/>
            <a:ext cx="22402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528048" y="9326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10,950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28048" y="12801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28048" y="1645920"/>
            <a:ext cx="22402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528048" y="168249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528048" y="202996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28048" y="2395728"/>
            <a:ext cx="22402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528048" y="243230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528048" y="27797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28048" y="3145536"/>
            <a:ext cx="22402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9528048" y="31821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730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528048" y="35295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28048" y="3895344"/>
            <a:ext cx="22402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9528048" y="393192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528048" y="427939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28048" y="4645152"/>
            <a:ext cx="22402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528048" y="468172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528048" y="50292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528048" y="5394960"/>
            <a:ext cx="22402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9528048" y="543153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528048" y="57790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Techniques Phase 2 — Supervised Regression for retail inventory optimization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5669280" cy="5486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32688"/>
            <a:ext cx="566928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9692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Problem &amp; Context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417320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3504" y="143560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Problem?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" y="1691640"/>
            <a:ext cx="5285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stores consistently face overstocking (excess holding costs) and stockouts (lost revenue/emergency replenishment). Without ML, demand is forecast by simple rules that cannot capture seasonality, promotions, and multi-product interactions.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514600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3504" y="253288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Important?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2788920"/>
            <a:ext cx="5285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inventory waste in retail is estimated at 10–15% of revenue. Even a 5% improvement in forecast accuracy can save thousands of dollars per store cluster annually.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3611880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3504" y="363016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Applied?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03504" y="3886200"/>
            <a:ext cx="5285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fulfillment centers, grocery chains, electronics retailers, pharmaceutical supply chains — any operation requiring daily replenishment decisions.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8912" y="4709160"/>
            <a:ext cx="64008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03504" y="4727448"/>
            <a:ext cx="5285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ML Solution?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03504" y="4983480"/>
            <a:ext cx="5285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regression pipeline with 5 baseline models trained on engineered temporal features that predicts daily demand per product per store with MAPE &lt; 15%.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91072" y="932688"/>
            <a:ext cx="5532120" cy="23317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46520" y="98755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Objectives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1316736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raw data into 26 model-ready features via engineering pipeline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5 baseline regression models on identical train-test splits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all models using MAE, MSE, RMSE, R² and MAPE metrics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clear comparison table and visualizations of model performance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best model, analyze overfitting/underfitting, quantify feature impact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91072" y="3429000"/>
            <a:ext cx="2670048" cy="1143000"/>
          </a:xfrm>
          <a:prstGeom prst="rect">
            <a:avLst/>
          </a:prstGeom>
          <a:solidFill>
            <a:srgbClr val="F76E6E"/>
          </a:solidFill>
          <a:ln w="12700">
            <a:solidFill>
              <a:srgbClr val="F76E6E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Holding Cost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8130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unit value/month per unsold item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07424" y="3429000"/>
            <a:ext cx="2670048" cy="1143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217152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Stockout Penalty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17152" y="38130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unit value per unfilled demand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91072" y="4754880"/>
            <a:ext cx="2670048" cy="114300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00800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Baseline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51389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 mean — $37,801/yr cost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07424" y="4754880"/>
            <a:ext cx="2670048" cy="114300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9217152" y="4846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Goal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17152" y="51389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 &gt;70% via accurate forecasting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Description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retail demand dataset — 10,950 rows × 12 columns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1755648" cy="8686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47472" y="1014984"/>
            <a:ext cx="175564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10,950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47472" y="1463954"/>
            <a:ext cx="17556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58568" y="960120"/>
            <a:ext cx="1755648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258568" y="1014984"/>
            <a:ext cx="175564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258568" y="1463954"/>
            <a:ext cx="17556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69664" y="960120"/>
            <a:ext cx="1755648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69664" y="1014984"/>
            <a:ext cx="175564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69664" y="1463954"/>
            <a:ext cx="17556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1755648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080760" y="1014984"/>
            <a:ext cx="175564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80760" y="1463954"/>
            <a:ext cx="17556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991856" y="960120"/>
            <a:ext cx="1755648" cy="86868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991856" y="1014984"/>
            <a:ext cx="175564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991856" y="1463954"/>
            <a:ext cx="17556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902952" y="960120"/>
            <a:ext cx="1755648" cy="868680"/>
          </a:xfrm>
          <a:prstGeom prst="rect">
            <a:avLst/>
          </a:prstGeom>
          <a:solidFill>
            <a:srgbClr val="F76E6E"/>
          </a:solidFill>
          <a:ln w="12700">
            <a:solidFill>
              <a:srgbClr val="F76E6E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9902952" y="1014984"/>
            <a:ext cx="1755648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902952" y="1463954"/>
            <a:ext cx="1755648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demand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920240"/>
          <a:ext cx="10972800" cy="368503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2022-01-01 to 2023-12-31 (daily granularity)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types: Electronics, Clothing, Groceries, Furniture, Toys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locations: Store_A (×1.2), Store_B (×1.0), Store_C (×0.8)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units sold — FORECAST TARGET (regression label)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is_promotion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on promotional days (10% of days receive +25% demand lift)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unit_cost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Wholesale cost per unit ($5 to $200 depending on product)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selling_price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price = unit_cost × Uniform(1.3, 1.8)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holding_cost_per_unit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2% of unit cost per unsold unit per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stockout_cost_per_unit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of unit cost per unfilled demand 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daily temperature with annual seasonality (°C)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is_weekend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Saturday or Sunday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is_holiday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major holiday window (Christmas, Thanksgiving, July 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5" name="Shape 2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Preprocessing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requirement: missing values, encoding, scaling, feature creation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5650992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Missing Value Handling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417320"/>
            <a:ext cx="5422392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dataset: 0 missing values across all 10,950 records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feature-engineering: ~450 NaN rows dropped (lag window edges, &lt; 5%)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strategy chosen: imputation would bias temporal lag distributions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plan: store-mean imputation for MCAR; missingness flags for MNAR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3685032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7472" y="3685032"/>
            <a:ext cx="5650992" cy="38404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Outlier Detection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4142232"/>
            <a:ext cx="5422392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Q1=44, Q3=196, IQR=152  →  Fences: Lower=-184, Upper=424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 of records flagged as statistical outliers by IQR rule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RETAINED — outliers are legitimate holiday &amp; promotion demand events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supply disruption anomalies would be masked in production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45352" y="960120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45352" y="960120"/>
            <a:ext cx="565099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55080" y="1024128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Categorical Encoding (Label Encoding)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2512" y="1417320"/>
            <a:ext cx="5422392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encoded: Electronics=1, Clothing=0, Groceries=2, Furniture=3, Toys=4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encoded: Store_A=0, Store_B=1, Store_C=2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handle ordinal encoding correctly via threshold-based splits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would require One-Hot Encoding to avoid false ordinal bias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45352" y="3685032"/>
            <a:ext cx="5650992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45352" y="3685032"/>
            <a:ext cx="5650992" cy="384048"/>
          </a:xfrm>
          <a:prstGeom prst="rect">
            <a:avLst/>
          </a:prstGeom>
          <a:solidFill>
            <a:srgbClr val="F76E6E"/>
          </a:solidFill>
          <a:ln w="12700">
            <a:solidFill>
              <a:srgbClr val="F7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55080" y="3749040"/>
            <a:ext cx="5468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Feature Scaling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82512" y="4142232"/>
            <a:ext cx="5422392" cy="1993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z = (x − μ) / σ — zero-mean, unit-variance per feature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Linear Regression and Ridge (tree models are scale-invariant)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scaler.fit() on X_train only — then scaler.transform() on X_test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on full data would cause data leakage from test period into scaler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12 raw columns to 26 model-ready features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3858768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385876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987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4173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 (0–6) — weekly demand cycles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(1–12) — annual seasonality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day_of_month (1–31) — payday effects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(1–4) — business cycle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week_of_year — high-resolution seasonal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— multi-year trend capture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5112" y="960120"/>
            <a:ext cx="3858768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325112" y="960120"/>
            <a:ext cx="3858768" cy="38404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53128" y="987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Lag Features (Temporal Memory)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53128" y="14173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demand_lag_1 — yesterday's demand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demand_lag_7 — same weekday last week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demand_lag_14 — bi-weekly pattern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demand_lag_30 — monthly rhythm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 shift(N) — ZERO leakage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most important feature group (RF)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302752" y="960120"/>
            <a:ext cx="3858768" cy="3310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02752" y="960120"/>
            <a:ext cx="38587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30768" y="987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Rolling Window Statistics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30768" y="14173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roll_mean_7 — 7-day smoothed trend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roll_mean_14 — medium-term baseline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roll_mean_30 — long-term seasonal level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roll_std_7/14/30 — demand volatility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enables safety stock sizing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computed with shift(1) before rolling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4407408"/>
            <a:ext cx="5669280" cy="17190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44805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&amp; Economic Features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4791456"/>
            <a:ext cx="53949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price_ratio = selling_price / unit_cost  — captures margin dynamics across product categories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profit_margin = (selling_price − unit_cost) / selling_price  — normalized profitability indicator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product_enc + store_enc  — label-encoded identifiers for product type and store location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4407408"/>
            <a:ext cx="1078992" cy="1719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17920" y="4590288"/>
            <a:ext cx="1078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217920" y="537667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4407408"/>
            <a:ext cx="1078992" cy="1719072"/>
          </a:xfrm>
          <a:prstGeom prst="rect">
            <a:avLst/>
          </a:prstGeom>
          <a:solidFill>
            <a:srgbClr val="F76E6E"/>
          </a:solidFill>
          <a:ln w="12700">
            <a:solidFill>
              <a:srgbClr val="F7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406640" y="4590288"/>
            <a:ext cx="1078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406640" y="537667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Lag+Roll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595360" y="4407408"/>
            <a:ext cx="1078992" cy="1719072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595360" y="4590288"/>
            <a:ext cx="1078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8595360" y="537667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784080" y="4407408"/>
            <a:ext cx="1078992" cy="17190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784080" y="4590288"/>
            <a:ext cx="1078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784080" y="537667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972800" y="4407408"/>
            <a:ext cx="1078992" cy="17190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972800" y="4590288"/>
            <a:ext cx="10789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=26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0972800" y="5376672"/>
            <a:ext cx="1078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Algorithms Used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baseline models — Phase 2 requirement (3–5 models for regression)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231136" cy="54681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2231136" cy="438912"/>
          </a:xfrm>
          <a:prstGeom prst="rect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97840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21615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OLS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0664" y="1481328"/>
            <a:ext cx="1207008" cy="1207008"/>
          </a:xfrm>
          <a:prstGeom prst="ellipse">
            <a:avLst/>
          </a:prstGeom>
          <a:solidFill>
            <a:srgbClr val="607080"/>
          </a:solidFill>
          <a:ln w="12700">
            <a:solidFill>
              <a:srgbClr val="607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0664" y="153619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0664" y="1883664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0.607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" y="278892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b0+b1x1+...+bnxn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32918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493008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OLS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benchmark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437083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4572000"/>
            <a:ext cx="2048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capture non-linearity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multicollinearity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87752" y="960120"/>
            <a:ext cx="2231136" cy="54681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587752" y="960120"/>
            <a:ext cx="2231136" cy="43891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679192" y="97840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Ridge Regression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79192" y="121615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Regularized — L2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99816" y="1481328"/>
            <a:ext cx="1207008" cy="120700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099816" y="153619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99816" y="1883664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0.595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679192" y="278892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= MSE + alpha*sum(bj^2)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79192" y="32918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79192" y="3493008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multicollinearity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coefficient shrinkage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speed as Linear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79192" y="437083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79192" y="4572000"/>
            <a:ext cx="2048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Fundamentally linear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alpha tuning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46904" y="960120"/>
            <a:ext cx="2231136" cy="54681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946904" y="960120"/>
            <a:ext cx="2231136" cy="438912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38344" y="97840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38344" y="121615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58968" y="1481328"/>
            <a:ext cx="1207008" cy="1207008"/>
          </a:xfrm>
          <a:prstGeom prst="ellipse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58968" y="153619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58968" y="1883664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0.800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038344" y="278892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min variance reduction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38344" y="32918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38344" y="3493008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non-linearity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tree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038344" y="437083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Limits: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38344" y="4572000"/>
            <a:ext cx="2048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overfitting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alone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306056" y="960120"/>
            <a:ext cx="2231136" cy="5468112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306056" y="960120"/>
            <a:ext cx="2231136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397496" y="97840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97496" y="121615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Ensemble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818120" y="1481328"/>
            <a:ext cx="1207008" cy="12070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818120" y="153619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18120" y="1883664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0.878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7397496" y="278892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avg of N trees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97496" y="32918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97496" y="3493008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reduced via bagging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397496" y="437083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Limits: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397496" y="4572000"/>
            <a:ext cx="2048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interpretable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memory usage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665208" y="960120"/>
            <a:ext cx="2231136" cy="54681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9665208" y="960120"/>
            <a:ext cx="2231136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9756648" y="97840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756648" y="1216152"/>
            <a:ext cx="2048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Ensemble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0177272" y="1481328"/>
            <a:ext cx="1207008" cy="12070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10177272" y="153619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0177272" y="1883664"/>
            <a:ext cx="120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0.625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9756648" y="278892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F_M = F0 + sum(lr*hm(x))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9756648" y="329184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Strengths: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756648" y="3493008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error correction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cost savings (83%)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interactions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756648" y="4370832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Limits: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756648" y="4572000"/>
            <a:ext cx="20482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parallelizable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hyperparams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 split across all models — Phase 2 requirement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795528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Train / Test Split (shuffle=False)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316736"/>
            <a:ext cx="612648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  (80%)  ~8,400 samples  |  Jan 2022 – Aug 2023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20840" y="1316736"/>
            <a:ext cx="1508760" cy="640080"/>
          </a:xfrm>
          <a:prstGeom prst="rect">
            <a:avLst/>
          </a:prstGeom>
          <a:solidFill>
            <a:srgbClr val="F76E6E"/>
          </a:solidFill>
          <a:ln w="12700">
            <a:solidFill>
              <a:srgbClr val="F7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720840" y="13167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(20%)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011680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7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shuffle=False — time order preserved. Random shuffle would leak future demand into the training window.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331720"/>
            <a:ext cx="7955280" cy="36393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3957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Hyperparameter Configuration — All 5 Models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43200"/>
          <a:ext cx="7955280" cy="197510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Hyperparameters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(closed-form OLS solution)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— L2 regularization strength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= 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StandardScaler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 — controls tree complexity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 = 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n_estimators, max_depth, n_jobs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 10, -1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n_estimators, learning_rate, max_depth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100, 0.1, 5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522208" y="932688"/>
            <a:ext cx="3337560" cy="5047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641080" y="100584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Cross-Validation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5-Fold KFold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641080" y="1874520"/>
            <a:ext cx="310896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686800" y="187452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1: Fold 1: Train 0-20%  Val 20-40%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641080" y="2423160"/>
            <a:ext cx="310896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686800" y="242316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2: Fold 2: Train 0-40%  Val 40-60%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641080" y="2971800"/>
            <a:ext cx="310896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8686800" y="29718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3: Fold 3: Train 0-60%  Val 60-70%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641080" y="3520440"/>
            <a:ext cx="310896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8686800" y="35204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4: Fold 4: Train 0-70%  Val 70-80%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641080" y="4069080"/>
            <a:ext cx="310896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8686800" y="406908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5: Fold 5: Train 0-80%  Val 80-100%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641080" y="4709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KFold(shuffle=False) — validation always follows training chronologically.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Metrics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requirement: MAE, MSE, RMSE, R² for regression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568756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568756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0241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MAE  —  Mean Absolute Error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435608"/>
            <a:ext cx="5449824" cy="402336"/>
          </a:xfrm>
          <a:prstGeom prst="rect">
            <a:avLst/>
          </a:prstGeom>
          <a:solidFill>
            <a:srgbClr val="E2F4F8"/>
          </a:solidFill>
          <a:ln w="63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30352" y="143560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(1/n) × Σ|yi − yi_hat|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929384"/>
            <a:ext cx="5449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prediction error in demand units. Robust to outliers. Most interpretable: 'On average we are X units wrong per day.'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71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Same units as demand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2944368"/>
            <a:ext cx="2267712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0" y="294436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5.08 units (Random Forest)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63640" y="960120"/>
            <a:ext cx="568756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63640" y="960120"/>
            <a:ext cx="5687568" cy="38404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73368" y="10241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MSE  —  Mean Squared Error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73368" y="1435608"/>
            <a:ext cx="5449824" cy="402336"/>
          </a:xfrm>
          <a:prstGeom prst="rect">
            <a:avLst/>
          </a:prstGeom>
          <a:solidFill>
            <a:srgbClr val="E2F4F8"/>
          </a:solidFill>
          <a:ln w="63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46520" y="143560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(1/n) × Σ(yi − yi_hat)²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73368" y="1929384"/>
            <a:ext cx="5449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large errors quadratically. Sensitive to demand spikes. Used as optimisation loss function for gradient-based models.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73368" y="2971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Squared units (units²)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573768" y="2944368"/>
            <a:ext cx="2267712" cy="29260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573768" y="2944368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40.91 (Random Forest)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3813048"/>
            <a:ext cx="568756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47472" y="3813048"/>
            <a:ext cx="5687568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38770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RMSE  —  Root Mean Squared Error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4288536"/>
            <a:ext cx="5449824" cy="402336"/>
          </a:xfrm>
          <a:prstGeom prst="rect">
            <a:avLst/>
          </a:prstGeom>
          <a:solidFill>
            <a:srgbClr val="E2F4F8"/>
          </a:solidFill>
          <a:ln w="63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0352" y="428853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√[ (1/n) × Σ(yi − yi_hat)² ]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82312"/>
            <a:ext cx="5449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of MSE — restores original units. RMSE &gt; MAE always. Large gap between them signals frequent large errors.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5824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Same units as demand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0" y="5797296"/>
            <a:ext cx="2267712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57600" y="579729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6.40 units (Random Forest)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3813048"/>
            <a:ext cx="5687568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263640" y="3813048"/>
            <a:ext cx="5687568" cy="384048"/>
          </a:xfrm>
          <a:prstGeom prst="rect">
            <a:avLst/>
          </a:prstGeom>
          <a:solidFill>
            <a:srgbClr val="F76E6E"/>
          </a:solidFill>
          <a:ln w="12700">
            <a:solidFill>
              <a:srgbClr val="F7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373368" y="38770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 —  Coefficient of Determination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373368" y="4288536"/>
            <a:ext cx="5449824" cy="402336"/>
          </a:xfrm>
          <a:prstGeom prst="rect">
            <a:avLst/>
          </a:prstGeom>
          <a:solidFill>
            <a:srgbClr val="E2F4F8"/>
          </a:solidFill>
          <a:ln w="6350">
            <a:solidFill>
              <a:srgbClr val="C8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446520" y="428853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1 − [Σ(yi−yi_hat)² / Σ(yi−y̅)²]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73368" y="4782312"/>
            <a:ext cx="54498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demand variance explained. R²=1 is perfect, R²=0 matches naive mean. Values 0.88+ indicate strong predictive power.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73368" y="58247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Dimensionless (0 to 1)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573768" y="5797296"/>
            <a:ext cx="2267712" cy="292608"/>
          </a:xfrm>
          <a:prstGeom prst="rect">
            <a:avLst/>
          </a:prstGeom>
          <a:solidFill>
            <a:srgbClr val="F76E6E"/>
          </a:solidFill>
          <a:ln w="12700">
            <a:solidFill>
              <a:srgbClr val="F7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9573768" y="579729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0.878 (Random Forest)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Comparison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requirement: clear comparison table across all models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05840"/>
          <a:ext cx="11155680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MAPE% 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0.6246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16.38%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828032"/>
            <a:ext cx="64008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58368" y="482803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(Best): R²=0.878, MAE=5.08 — explains 87.8% of demand variance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19272" y="4828032"/>
            <a:ext cx="64008" cy="74980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7"/>
          <p:cNvSpPr/>
          <p:nvPr/>
        </p:nvSpPr>
        <p:spPr>
          <a:xfrm>
            <a:off x="3474720" y="482803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models gain: Decision Tree R²=0.800 vs Linear R²=0.607 (+19.3%)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35624" y="4828032"/>
            <a:ext cx="64008" cy="749808"/>
          </a:xfrm>
          <a:prstGeom prst="rect">
            <a:avLst/>
          </a:prstGeom>
          <a:solidFill>
            <a:srgbClr val="F76E6E"/>
          </a:solidFill>
          <a:ln w="12700">
            <a:solidFill>
              <a:srgbClr val="F7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291072" y="482803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Boosting: highest cost savings (83%) despite lower R² than Random Forest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951976" y="4828032"/>
            <a:ext cx="64008" cy="7498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9107424" y="4828032"/>
            <a:ext cx="25786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underfit — confirms demand has strong non-linear interaction patterns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Comparison Graphs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charts: MAE, RMSE, R² and MAPE across all 5 models — Phase 2 requirement</a:t>
            </a:r>
            <a:endParaRPr lang="en-US" sz="1000" dirty="0"/>
          </a:p>
        </p:txBody>
      </p:sp>
      <p:pic>
        <p:nvPicPr>
          <p:cNvPr id="6" name="Image 0" descr="/home/claude/imgs/fig1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96112"/>
            <a:ext cx="11612880" cy="5742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vs Predicted — Time Series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predictions overlaid on actual demand (first 180 time-ordered test samples)</a:t>
            </a:r>
            <a:endParaRPr lang="en-US" sz="1000" dirty="0"/>
          </a:p>
        </p:txBody>
      </p:sp>
      <p:pic>
        <p:nvPicPr>
          <p:cNvPr id="6" name="Image 0" descr="/home/claude/imgs/fig2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69264"/>
            <a:ext cx="11612880" cy="5230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108192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= Actual  |  Dashed lines = Model predictions  |  Shaded = ±12% confidence band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 Plots &amp; Error Distribution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per model — error distribution analysis (Phase 2 requirement)</a:t>
            </a:r>
            <a:endParaRPr lang="en-US" sz="1000" dirty="0"/>
          </a:p>
        </p:txBody>
      </p:sp>
      <p:pic>
        <p:nvPicPr>
          <p:cNvPr id="6" name="Image 0" descr="/home/claude/imgs/fig3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50392"/>
            <a:ext cx="11612880" cy="3017520"/>
          </a:xfrm>
          <a:prstGeom prst="rect">
            <a:avLst/>
          </a:prstGeom>
        </p:spPr>
      </p:pic>
      <p:pic>
        <p:nvPicPr>
          <p:cNvPr id="7" name="Image 1" descr="/home/claude/imgs/fig7_err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22192"/>
            <a:ext cx="11612880" cy="274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Importance Analysis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mean impurity decrease (Phase 2: feature selection justification)</a:t>
            </a:r>
            <a:endParaRPr lang="en-US" sz="1000" dirty="0"/>
          </a:p>
        </p:txBody>
      </p:sp>
      <p:pic>
        <p:nvPicPr>
          <p:cNvPr id="6" name="Image 0" descr="/home/claude/imgs/fig4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7040880" cy="53218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24928" y="960120"/>
            <a:ext cx="4462272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516368" y="98755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demand_lag_1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16368" y="121615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— yesterday's demand (autocorrelation)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424928" y="1627632"/>
            <a:ext cx="4462272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7516368" y="1655064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roll_mean_7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16368" y="1883664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— 7-day smoothed local trend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24928" y="2295144"/>
            <a:ext cx="4462272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516368" y="2322576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roll_mean_14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516368" y="2551176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— medium-term demand baseline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424928" y="2962656"/>
            <a:ext cx="4462272" cy="5760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516368" y="2990088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demand_lag_7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16368" y="3218688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— same weekday last week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424928" y="3630168"/>
            <a:ext cx="4462272" cy="5760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516368" y="3657600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unit_cost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16368" y="3886200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— product category proxy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424928" y="4297680"/>
            <a:ext cx="4462272" cy="5760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516368" y="432511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roll_mean_30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516368" y="455371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— long-term monthly pattern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424928" y="4965192"/>
            <a:ext cx="4462272" cy="5760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7516368" y="4992624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516368" y="5221224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 — annual seasonal signal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424928" y="5632704"/>
            <a:ext cx="4462272" cy="5760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516368" y="5660136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week_of_year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516368" y="5888736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 — intra-annual seasonality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Savings Analysis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inventory cost reduction vs naive (always predict mean) baseline</a:t>
            </a:r>
            <a:endParaRPr lang="en-US" sz="1000" dirty="0"/>
          </a:p>
        </p:txBody>
      </p:sp>
      <p:pic>
        <p:nvPicPr>
          <p:cNvPr id="6" name="Image 0" descr="/home/claude/imgs/fig5_co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8595360" cy="443484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0" y="960120"/>
          <a:ext cx="2999232" cy="3200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$30,970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$30,946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$21,931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C8DC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$26,067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$31,344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saved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2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961120" y="4343400"/>
            <a:ext cx="2907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 annual cost: $37,801</a:t>
            </a:r>
            <a:endParaRPr lang="en-US" sz="900" dirty="0"/>
          </a:p>
        </p:txBody>
      </p:sp>
      <p:pic>
        <p:nvPicPr>
          <p:cNvPr id="9" name="Image 1" descr="/home/claude/imgs/fig6_e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5321808"/>
            <a:ext cx="8595360" cy="129844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11612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 &amp; Observations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requirement: best model justification, overfitting analysis, feature engineering impact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5669280" cy="2487168"/>
          </a:xfrm>
          <a:prstGeom prst="rect">
            <a:avLst/>
          </a:prstGeom>
          <a:solidFill>
            <a:srgbClr val="0A2342"/>
          </a:solidFill>
          <a:ln w="25400">
            <a:solidFill>
              <a:srgbClr val="02C39A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2412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1847088"/>
            <a:ext cx="1225296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0.8781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02920" y="259689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19656" y="1847088"/>
            <a:ext cx="1225296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819656" y="192024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5.08 u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819656" y="259689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36392" y="1847088"/>
            <a:ext cx="1225296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136392" y="192024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8.32%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136392" y="259689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53128" y="1847088"/>
            <a:ext cx="1225296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453128" y="1920240"/>
            <a:ext cx="1225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6.40 u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453128" y="2596896"/>
            <a:ext cx="1225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960120"/>
            <a:ext cx="566928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72200" y="960120"/>
            <a:ext cx="82296" cy="1207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336792" y="1271016"/>
            <a:ext cx="420624" cy="42062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336792" y="1271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67144" y="1033272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Model Justification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67144" y="1307592"/>
            <a:ext cx="4828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achieves R²=0.878 by averaging 100 bootstrap decision trees, reducing variance without increasing bias. Outperforms linear models by +27 R² points due to non-linear demand interactions.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2313432"/>
            <a:ext cx="566928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172200" y="2313432"/>
            <a:ext cx="82296" cy="120700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336792" y="2624328"/>
            <a:ext cx="420624" cy="420624"/>
          </a:xfrm>
          <a:prstGeom prst="ellipse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336792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67144" y="2386584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5E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Overfitting / Underfitting 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67144" y="2660904"/>
            <a:ext cx="4828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(R²≈0.60) underfit — demand is non-linear. Decision Tree shows slight high variance alone (depth=8). Random Forest's bagging corrects this. Gradient Boosting generalizes well despite boosting risk.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3666744"/>
            <a:ext cx="566928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172200" y="3666744"/>
            <a:ext cx="82296" cy="1207008"/>
          </a:xfrm>
          <a:prstGeom prst="rect">
            <a:avLst/>
          </a:prstGeom>
          <a:solidFill>
            <a:srgbClr val="F76E6E"/>
          </a:solidFill>
          <a:ln w="12700">
            <a:solidFill>
              <a:srgbClr val="F7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336792" y="3977640"/>
            <a:ext cx="420624" cy="420624"/>
          </a:xfrm>
          <a:prstGeom prst="ellipse">
            <a:avLst/>
          </a:prstGeom>
          <a:solidFill>
            <a:srgbClr val="F76E6E"/>
          </a:solidFill>
          <a:ln w="12700">
            <a:solidFill>
              <a:srgbClr val="F7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36792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67144" y="3739896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6E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 Impact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67144" y="4014216"/>
            <a:ext cx="4828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 (demand_lag_1, roll_mean_7) contribute &gt;40% of RF importance. Without temporal features, R² would be ~0.20 from raw columns alone. Engineering raised effective signal from 12 raw columns to 26 actionable features.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3584448"/>
            <a:ext cx="566928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347472" y="3584448"/>
            <a:ext cx="82296" cy="1207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12064" y="3895344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12064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42416" y="365760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Reduction Business Case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42416" y="3931920"/>
            <a:ext cx="4828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 reduces annual inventory cost from $37,801 (naive mean prediction) to as low as $6,457 — an 83% reduction. Justifies production deployment even with model serving infrastructure costs.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47472" y="4937760"/>
            <a:ext cx="566928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47472" y="4937760"/>
            <a:ext cx="82296" cy="1207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12064" y="5248656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12064" y="5248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42416" y="5010912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Split Non-Negotiable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42416" y="5285232"/>
            <a:ext cx="48280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shuffling in train-test split would cause future data leakage, inflating CV R² by 10–15%. KFold(shuffle=False) with TimeSeriesSplit ensures evaluations reflect real production forecasting scenarios.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38912" y="3657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 &amp;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38912" y="1115568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Summary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38912" y="196596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best model — R²=0.878, MAE=5.08 units/day, MAPE=8.32%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(lag + rolling + calendar) raised R² from ~0.20 to 0.878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ensemble models outperform linear by +27 R² points — demand is non-linear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(shuffle=False) is mandatory — prevents future-data leakage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delivers highest business ROI: 82.9% cost savings ($31,344/year)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" y="4343400"/>
            <a:ext cx="6858000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Deliverables Completed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4736592"/>
            <a:ext cx="656539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missing values, encoding, scaling, 14 derived features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baseline models trained on identical 80/20 temporal split with cross-validation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MAE, MSE, RMSE, R², MAPE — clear comparison table presented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Visualizations: bar charts, scatter plots, timeline, error distribution, feature importance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571232" y="365760"/>
            <a:ext cx="4315968" cy="61996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699248" y="4389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 Summary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99248" y="877824"/>
            <a:ext cx="406908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699248" y="92354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10,950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699248" y="12893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99248" y="1627632"/>
            <a:ext cx="40690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699248" y="167335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699248" y="203911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99248" y="2377440"/>
            <a:ext cx="4069080" cy="658368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699248" y="24231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Models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699248" y="278892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99248" y="3127248"/>
            <a:ext cx="4069080" cy="658368"/>
          </a:xfrm>
          <a:prstGeom prst="rect">
            <a:avLst/>
          </a:prstGeom>
          <a:solidFill>
            <a:srgbClr val="F76E6E"/>
          </a:solidFill>
          <a:ln w="12700">
            <a:solidFill>
              <a:srgbClr val="F76E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699248" y="31729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0.878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699248" y="3538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99248" y="3877056"/>
            <a:ext cx="4069080" cy="658368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699248" y="39227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8.32%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699248" y="428853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99248" y="4626864"/>
            <a:ext cx="406908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699248" y="467258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83%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699248" y="503834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Cost Savings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99248" y="5376672"/>
            <a:ext cx="406908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699248" y="54223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$31,344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7699248" y="57881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Annual Savings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74320" y="6583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for Inventory Cost Reduction  |  ML Techniques — Phase 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972800" y="6583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2735</Words>
  <Application>Microsoft Office PowerPoint</Application>
  <PresentationFormat>Widescreen</PresentationFormat>
  <Paragraphs>494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Forecasting for Inventory Cost Reduction</dc:title>
  <dc:subject>PptxGenJS Presentation</dc:subject>
  <dc:creator>PptxGenJS</dc:creator>
  <cp:lastModifiedBy>Dawood Abdul Basith J 24BCS054</cp:lastModifiedBy>
  <cp:revision>3</cp:revision>
  <dcterms:created xsi:type="dcterms:W3CDTF">2026-03-23T13:54:16Z</dcterms:created>
  <dcterms:modified xsi:type="dcterms:W3CDTF">2026-03-31T14:14:16Z</dcterms:modified>
</cp:coreProperties>
</file>